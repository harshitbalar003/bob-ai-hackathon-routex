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91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/ 08
ROUTEX · COLDFRONT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82" y="1420000"/>
            <a:ext cx="1147833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00" b="1" kern="0" spc="-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the Route Breaks, Coldfront Knows</a:t>
            </a:r>
            <a:br>
              <a:rPr lang="en-US" sz="3800" b="1" kern="0" spc="-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3800" b="1" kern="0" spc="-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to Do.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1475" y="33420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204C8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Coldfront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356682" y="42162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04C8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Disruption Assistant &amp; Fleet Utilisation Optimizer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82" y="4731246"/>
            <a:ext cx="1147833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RouteX | AI Track | Problem L2 — Logistics &amp; Ports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82" y="52689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3D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decide. Models predict. AI explains. Humans approve.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Disruption Creates Four Problems.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593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7679" y="3347490"/>
            <a:ext cx="2249146" cy="5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ROTTERDAM PORT CLOSURE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967679" y="4019635"/>
            <a:ext cx="2249146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disruption creates four connected problems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61081" y="2166005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 CHAIN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40778" y="2543923"/>
            <a:ext cx="2594363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temperature remain within envelope?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59204" y="5095198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REROUTING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38901" y="5473116"/>
            <a:ext cx="2594363" cy="353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alternative is actually safe?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2116" y="1502360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31813" y="1880278"/>
            <a:ext cx="2594363" cy="529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shipments are affected? What is value at risk?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47247" y="5565961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FLEET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126944" y="5943879"/>
            <a:ext cx="2594363" cy="353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idle asset can respond?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893818"/>
            <a:ext cx="11478330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5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show parts of the problem. Operators need one decision.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" y="737989"/>
            <a:ext cx="5107632" cy="53820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3798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 Coldfront — One Crisis, One Worklist.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202755"/>
            <a:ext cx="945035" cy="1134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7402" y="2391767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HAPPENED?</a:t>
            </a:r>
            <a:endParaRPr lang="en-US" sz="18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336826"/>
            <a:ext cx="945035" cy="11340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67402" y="3525838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COLDFRONT</a:t>
            </a:r>
            <a:endParaRPr lang="en-US" sz="18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470896"/>
            <a:ext cx="945035" cy="113407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67402" y="4659908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SHOULD I DO?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5233360" y="581759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Coldfront turns disruption data into a ranked operator worklist.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kern="0" spc="-5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Rules Decide. Models Predict. AI Explains.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45257"/>
            <a:ext cx="10868745" cy="43197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8855" y="4010213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18310" y="4393108"/>
            <a:ext cx="2925300" cy="18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0000"/>
              </a:lnSpc>
              <a:buNone/>
            </a:pPr>
            <a:r>
              <a:rPr lang="en-US" sz="15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Disruption feeds, telemetry, IoT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22174" y="3086925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ENGINES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22174" y="3469821"/>
            <a:ext cx="2851107" cy="365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Impact, Cold-Chain, Reroute, Fleet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58689" y="2420336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145" y="2803232"/>
            <a:ext cx="2925300" cy="18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0000"/>
              </a:lnSpc>
              <a:buNone/>
            </a:pPr>
            <a:r>
              <a:rPr lang="en-US" sz="15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ML &amp; AI explanations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22174" y="1524706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OPERATOR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22174" y="1907601"/>
            <a:ext cx="2851107" cy="18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and approves actions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5324971"/>
            <a:ext cx="10868745" cy="100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950" b="1" kern="0" spc="-16" dirty="0">
                <a:solidFill>
                  <a:srgbClr val="FF5C5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NEVER DECIDES THE VERDICT.</a:t>
            </a:r>
            <a:endParaRPr lang="en-US" sz="950" dirty="0"/>
          </a:p>
          <a:p>
            <a:pPr marL="0" indent="0" algn="ctr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950" kern="0" spc="-16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rules/engines produce the decision.</a:t>
            </a:r>
            <a:endParaRPr lang="en-US" sz="950" dirty="0"/>
          </a:p>
          <a:p>
            <a:pPr marL="0" indent="0" algn="ctr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950" kern="0" spc="-16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predicts future risk.</a:t>
            </a:r>
            <a:endParaRPr lang="en-US" sz="950" dirty="0"/>
          </a:p>
          <a:p>
            <a:pPr marL="0" indent="0" algn="ctr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950" kern="0" spc="-16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explains the result.</a:t>
            </a:r>
            <a:endParaRPr lang="en-US" sz="9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kern="0" spc="-16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approves the action.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38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Vaccine Shipment: From Warning to Action.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52477"/>
            <a:ext cx="10868745" cy="2531170"/>
          </a:xfrm>
          <a:prstGeom prst="roundRect">
            <a:avLst>
              <a:gd name="adj" fmla="val 313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358827"/>
            <a:ext cx="2713962" cy="2518470"/>
          </a:xfrm>
          <a:custGeom>
            <a:avLst/>
            <a:gdLst/>
            <a:ahLst/>
            <a:cxnLst/>
            <a:rect l="l" t="t" r="r" b="b"/>
            <a:pathLst>
              <a:path w="2713962" h="2518470">
                <a:moveTo>
                  <a:pt x="66156" y="0"/>
                </a:moveTo>
                <a:lnTo>
                  <a:pt x="2713962" y="0"/>
                </a:lnTo>
                <a:lnTo>
                  <a:pt x="2713962" y="2518470"/>
                </a:lnTo>
                <a:lnTo>
                  <a:pt x="66156" y="251847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43D17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547838"/>
            <a:ext cx="23359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1: NORMAL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956520"/>
            <a:ext cx="233594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Temperature: 5.2°C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Within envelope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81786" y="2358827"/>
            <a:ext cx="2714061" cy="2518470"/>
          </a:xfrm>
          <a:prstGeom prst="rect">
            <a:avLst/>
          </a:prstGeom>
          <a:solidFill>
            <a:srgbClr val="F5B942"/>
          </a:solidFill>
          <a:ln/>
        </p:spPr>
      </p:sp>
      <p:sp>
        <p:nvSpPr>
          <p:cNvPr id="8" name="Shape 6"/>
          <p:cNvSpPr/>
          <p:nvPr/>
        </p:nvSpPr>
        <p:spPr>
          <a:xfrm>
            <a:off x="3381786" y="2358827"/>
            <a:ext cx="25399" cy="2518470"/>
          </a:xfrm>
          <a:prstGeom prst="roundRect">
            <a:avLst>
              <a:gd name="adj" fmla="val 50001"/>
            </a:avLst>
          </a:prstGeom>
          <a:solidFill>
            <a:srgbClr val="DB9F28"/>
          </a:solidFill>
          <a:ln/>
        </p:spPr>
      </p:sp>
      <p:sp>
        <p:nvSpPr>
          <p:cNvPr id="9" name="Text 7"/>
          <p:cNvSpPr/>
          <p:nvPr/>
        </p:nvSpPr>
        <p:spPr>
          <a:xfrm>
            <a:off x="3570793" y="2547838"/>
            <a:ext cx="233604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2: PREDICTED RISK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570793" y="3251795"/>
            <a:ext cx="2336047" cy="143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"4-hour breach probability"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2358827"/>
            <a:ext cx="2713962" cy="2518470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2358827"/>
            <a:ext cx="25399" cy="2518470"/>
          </a:xfrm>
          <a:prstGeom prst="roundRect">
            <a:avLst>
              <a:gd name="adj" fmla="val 50001"/>
            </a:avLst>
          </a:prstGeom>
          <a:solidFill>
            <a:srgbClr val="E54242"/>
          </a:solidFill>
          <a:ln/>
        </p:spPr>
      </p:sp>
      <p:sp>
        <p:nvSpPr>
          <p:cNvPr id="13" name="Text 11"/>
          <p:cNvSpPr/>
          <p:nvPr/>
        </p:nvSpPr>
        <p:spPr>
          <a:xfrm>
            <a:off x="6284854" y="2547838"/>
            <a:ext cx="23359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3: EXCURSION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84854" y="3251795"/>
            <a:ext cx="2335948" cy="143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crosses: 8°C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BREACH DETECTED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Degree-minutes / thermal exposure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09809" y="2358827"/>
            <a:ext cx="2714061" cy="2518470"/>
          </a:xfrm>
          <a:custGeom>
            <a:avLst/>
            <a:gdLst/>
            <a:ahLst/>
            <a:cxnLst/>
            <a:rect l="l" t="t" r="r" b="b"/>
            <a:pathLst>
              <a:path w="2714061" h="2518470">
                <a:moveTo>
                  <a:pt x="0" y="0"/>
                </a:moveTo>
                <a:lnTo>
                  <a:pt x="2647905" y="0"/>
                </a:lnTo>
                <a:arcTo wR="66156" hR="66158" stAng="16200000" swAng="5400000"/>
                <a:lnTo>
                  <a:pt x="2714061" y="2452311"/>
                </a:lnTo>
                <a:arcTo wR="66156" hR="66158" stAng="0" swAng="5400000"/>
                <a:lnTo>
                  <a:pt x="0" y="2518470"/>
                </a:lnTo>
                <a:lnTo>
                  <a:pt x="0" y="0"/>
                </a:lnTo>
                <a:close/>
              </a:path>
            </a:pathLst>
          </a:custGeom>
          <a:solidFill>
            <a:srgbClr val="59D9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809809" y="2358827"/>
            <a:ext cx="25399" cy="2518470"/>
          </a:xfrm>
          <a:prstGeom prst="roundRect">
            <a:avLst>
              <a:gd name="adj" fmla="val 50001"/>
            </a:avLst>
          </a:prstGeom>
          <a:solidFill>
            <a:srgbClr val="3FBFCE"/>
          </a:solidFill>
          <a:ln/>
        </p:spPr>
      </p:sp>
      <p:sp>
        <p:nvSpPr>
          <p:cNvPr id="17" name="Text 15"/>
          <p:cNvSpPr/>
          <p:nvPr/>
        </p:nvSpPr>
        <p:spPr>
          <a:xfrm>
            <a:off x="8998816" y="2547838"/>
            <a:ext cx="2336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4: ACTION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998816" y="2956520"/>
            <a:ext cx="2336047" cy="143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Cold-chain-safe reroute selected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reefer identified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6682" y="5096272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→ DETECT → EXPLAIN → REROUTE → RECOVER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320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IBM Fits Into Coldfront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649214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771452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124373"/>
            <a:ext cx="352297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application development (planning, implementation, and review throughout)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4362" y="1649214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4334362" y="1771452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watsonx.ai (Granite)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334362" y="2124373"/>
            <a:ext cx="352297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language explanation layer (natural-language explanation with deterministic template fallback)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7249" y="1649214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8007249" y="1771452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Coldfront Decision Engines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07249" y="2124373"/>
            <a:ext cx="352297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decision logic (impact, cold-chain, rerouting, fleet)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431282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553520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Layer (scikit-learn)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1475" y="3906441"/>
            <a:ext cx="352297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cold-chain risk (breach forecasting, leg duration regression)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34362" y="3431282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362" y="3553520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334362" y="3906441"/>
            <a:ext cx="352297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Application/API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7249" y="3431282"/>
            <a:ext cx="3522971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7249" y="3553520"/>
            <a:ext cx="352297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007249" y="3906441"/>
            <a:ext cx="352297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Tower interface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4958755"/>
            <a:ext cx="1086874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080992"/>
            <a:ext cx="1086874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1475" y="5433913"/>
            <a:ext cx="10868745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82" y="5983387"/>
            <a:ext cx="11478330" cy="318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650" b="1" kern="0" spc="-2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doesn't replace the control tower. It makes the control tower actionable.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99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Data Overload to a Ranked Decision.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27969"/>
            <a:ext cx="52182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6F7B8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2026245"/>
            <a:ext cx="5218280" cy="160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6F7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impact analysis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6F7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Retrospective temperature alarms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6F7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route comparison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6F7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fleet search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6F7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decision traceability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18290" y="1527969"/>
            <a:ext cx="521828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59D9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COLDFRONT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318290" y="2026245"/>
            <a:ext cx="5218280" cy="160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59D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affected shipments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59D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cold-chain warning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59D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Cold-chain-aware rerouting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59D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Redeployable fleet ranking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59D9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Evidence-backed decisions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19986" y="3876973"/>
            <a:ext cx="1351722" cy="269180"/>
          </a:xfrm>
          <a:prstGeom prst="roundRect">
            <a:avLst>
              <a:gd name="adj" fmla="val 22119"/>
            </a:avLst>
          </a:prstGeom>
          <a:solidFill>
            <a:srgbClr val="151738"/>
          </a:solidFill>
          <a:ln/>
        </p:spPr>
      </p:sp>
      <p:sp>
        <p:nvSpPr>
          <p:cNvPr id="8" name="Text 6"/>
          <p:cNvSpPr/>
          <p:nvPr/>
        </p:nvSpPr>
        <p:spPr>
          <a:xfrm>
            <a:off x="5526247" y="3930055"/>
            <a:ext cx="174878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SCENARIO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4421584"/>
            <a:ext cx="2561367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1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61475" y="5219502"/>
            <a:ext cx="256136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Affected shipments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30502" y="4421584"/>
            <a:ext cx="2561466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1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430502" y="5219502"/>
            <a:ext cx="256146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Reroute alternatives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99628" y="4421584"/>
            <a:ext cx="2561466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1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199628" y="5219502"/>
            <a:ext cx="256146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Cold-chain-safe recommendation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8754" y="4421584"/>
            <a:ext cx="2561466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b="1" kern="0" spc="-13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968754" y="5219502"/>
            <a:ext cx="256146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reefer surfaced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82" y="5955605"/>
            <a:ext cx="11478330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700" kern="0" spc="-28" dirty="0">
                <a:solidFill>
                  <a:srgbClr val="A9B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isn't to show more data, The goal is to reduce decision time.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558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b="1" kern="0" spc="-7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by RouteX — From Data to Decision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61475" y="1174155"/>
            <a:ext cx="5389725" cy="2445941"/>
          </a:xfrm>
          <a:prstGeom prst="roundRect">
            <a:avLst>
              <a:gd name="adj" fmla="val 22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699" y="1310382"/>
            <a:ext cx="389821" cy="3898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852" y="1417538"/>
            <a:ext cx="175414" cy="1754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699" y="1789509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ABHAY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7699" y="2046089"/>
            <a:ext cx="51172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&amp; Research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7699" y="2275086"/>
            <a:ext cx="5117277" cy="1208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Coldfront Control Tower UI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visibility and disruption views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 monitoring interface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Reroute workflow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Fleet-utilisation interface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workflow research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0495" y="1174155"/>
            <a:ext cx="5389725" cy="2445941"/>
          </a:xfrm>
          <a:prstGeom prst="roundRect">
            <a:avLst>
              <a:gd name="adj" fmla="val 22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76719" y="1310382"/>
            <a:ext cx="389821" cy="3898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3872" y="1417538"/>
            <a:ext cx="175414" cy="175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6719" y="1789509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HARSHIT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76719" y="2046089"/>
            <a:ext cx="51172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Testing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276719" y="2275086"/>
            <a:ext cx="5117277" cy="795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backend/API layer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Frontend-to-engine integration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workflow integration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and integration testing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61475" y="3709392"/>
            <a:ext cx="5389725" cy="2239268"/>
          </a:xfrm>
          <a:prstGeom prst="roundRect">
            <a:avLst>
              <a:gd name="adj" fmla="val 243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7699" y="3845620"/>
            <a:ext cx="389821" cy="3898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852" y="3952776"/>
            <a:ext cx="175414" cy="1754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7699" y="4324747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97699" y="4581327"/>
            <a:ext cx="51172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&amp; Testing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97699" y="4810323"/>
            <a:ext cx="5117277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ML layer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 excursion/breach prediction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output validation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workflow testing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40495" y="3709392"/>
            <a:ext cx="5389725" cy="2239268"/>
          </a:xfrm>
          <a:prstGeom prst="roundRect">
            <a:avLst>
              <a:gd name="adj" fmla="val 243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76719" y="3845620"/>
            <a:ext cx="389821" cy="3898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3872" y="3952776"/>
            <a:ext cx="175414" cy="1754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76719" y="4324747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276719" y="4581327"/>
            <a:ext cx="51172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&amp; Documentation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276719" y="4810323"/>
            <a:ext cx="5117277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persistence/data layer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Shipment/disruption/sensor/fleet data storage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 and repository support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documentation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and demo documentation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56682" y="6049169"/>
            <a:ext cx="11478330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250" kern="0" spc="-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team. One control tower. One decision.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615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 Balar</dc:creator>
  <cp:lastModifiedBy>Harshit Balar</cp:lastModifiedBy>
  <cp:revision>2</cp:revision>
  <dcterms:created xsi:type="dcterms:W3CDTF">2026-09-15T15:32:36Z</dcterms:created>
  <dcterms:modified xsi:type="dcterms:W3CDTF">2026-09-15T16:01:33Z</dcterms:modified>
</cp:coreProperties>
</file>